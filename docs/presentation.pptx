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6EDF3"/>
                </a:solidFill>
              </a:rPr>
              <a:t>DocuMind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8BFD"/>
                </a:solidFill>
              </a:rPr>
              <a:t>Production-Grade LLM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200400"/>
            <a:ext cx="91440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Regulatory Change Analysis  ·  Multi-Agent Knowledge Synthesis  · 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Course: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93192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CS 599 — Contemporary Developments: Applications of Large Language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43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Modules: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4340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RegDelta (Regulatory Impact Analyzer)  |  SynapseIQ (Multi-Agent Synthesis Platform)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548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University: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75488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Northern Arizona University · Department of Computer Science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What is DocuMind?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388BFD"/>
                </a:solidFill>
              </a:rPr>
              <a:t>▸  </a:t>
            </a:r>
            <a:r>
              <a:rPr sz="1900">
                <a:solidFill>
                  <a:srgbClr val="E6EDF3"/>
                </a:solidFill>
              </a:rPr>
              <a:t>A unified AI platform built on Large Language Models + Retrieval-Augmented Generation (RAG)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88BFD"/>
                </a:solidFill>
              </a:rPr>
              <a:t>▸  </a:t>
            </a:r>
            <a:r>
              <a:rPr sz="1900">
                <a:solidFill>
                  <a:srgbClr val="E6EDF3"/>
                </a:solidFill>
              </a:rPr>
              <a:t>Two production-grade modules for high-value document intelligence in regulated industries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88BFD"/>
                </a:solidFill>
              </a:rPr>
              <a:t>▸  </a:t>
            </a:r>
            <a:r>
              <a:rPr sz="1900">
                <a:solidFill>
                  <a:srgbClr val="E6EDF3"/>
                </a:solidFill>
              </a:rPr>
              <a:t>Demonstrates enterprise software engineering: FastAPI, ChromaDB, Docker, pytest, SQLite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88BFD"/>
                </a:solidFill>
              </a:rPr>
              <a:t>▸  </a:t>
            </a:r>
            <a:r>
              <a:rPr sz="1900">
                <a:solidFill>
                  <a:srgbClr val="E6EDF3"/>
                </a:solidFill>
              </a:rPr>
              <a:t>Supports OpenAI gpt-4o-mini cloud inference or Ollama local inference — single .env switch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88BFD"/>
                </a:solidFill>
              </a:rPr>
              <a:t>▸  </a:t>
            </a:r>
            <a:r>
              <a:rPr sz="1900">
                <a:solidFill>
                  <a:srgbClr val="E6EDF3"/>
                </a:solidFill>
              </a:rPr>
              <a:t>Full observability: per-agent token counts, latency, cost estimates, and session traces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Two unsolved enterprise knowledge-work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1C212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Problem A — Regulatory Propagation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2–4 weeks per regulation amendment at mid-size firms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Manual cross-referencing of hundreds of policy docs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Error-prone under deadline pressure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No audit trail linking policy gaps to clauses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Scales linearly with policy inventory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1C2128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Problem B — Research Synthesis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Analysts spend majority of time on manual synthesis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Simple RAG tools return chunks — no analysis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No reasoning about logical gaps or contradictions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No quality gate before delivering to decision-makers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88BFD"/>
                </a:solidFill>
              </a:rPr>
              <a:t>▸  </a:t>
            </a:r>
            <a:r>
              <a:rPr sz="1500">
                <a:solidFill>
                  <a:srgbClr val="E6EDF3"/>
                </a:solidFill>
              </a:rPr>
              <a:t>No traceable chain from source to final artifact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DocuMind — two specialized, production-grade AI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389120"/>
          </a:xfrm>
          <a:prstGeom prst="rect">
            <a:avLst/>
          </a:prstGeom>
          <a:solidFill>
            <a:srgbClr val="1C2128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Module I — RegDelta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88BFD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Section-level diff with difflib.SequenceMatcher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88BFD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ChromaDB semantic policy retrieval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88BFD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LLM-generated risk-classified impact reports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88BFD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RiskLevel: LOW / MEDIUM / HIGH / CRITICAL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88BFD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SQLite audit trail of all versions and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1C2128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0700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Module II — SynapseIQ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FB950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4-agent pipeline: Researcher→Critic→Synthesizer→Validator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FB950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Shared AgentContext dataclass across all agents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FB950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YAML+Jinja2 versioned prompt templates, hot-reload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FB950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Composite score: 0.30×coherence + 0.35×relevance + ...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FB950"/>
                </a:solidFill>
              </a:rPr>
              <a:t>▸  </a:t>
            </a:r>
            <a:r>
              <a:rPr sz="1600">
                <a:solidFill>
                  <a:srgbClr val="E6EDF3"/>
                </a:solidFill>
              </a:rPr>
              <a:t>PASS / CONDITIONAL_PASS / FAIL verdict before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2D1F3D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332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2A8FF"/>
                </a:solidFill>
              </a:rPr>
              <a:t>Shared: ChromaDB · all-MiniLM-L6-v2 · OpenAI/Ollama · Pydantic · SQLite · Docker · pytest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5-Layer Production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solidFill>
            <a:srgbClr val="1C2128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82296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710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D"/>
                </a:solidFill>
              </a:rPr>
              <a:t>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HTTP · Swagger UI · Python SDK ·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57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11430000" cy="822960"/>
          </a:xfrm>
          <a:prstGeom prst="rect">
            <a:avLst/>
          </a:prstGeom>
          <a:solidFill>
            <a:srgbClr val="1C2128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4864" cy="8229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854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328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FastAPI/Uvicorn ASGI · Pydantic · OpenAPI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71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11430000" cy="822960"/>
          </a:xfrm>
          <a:prstGeom prst="rect">
            <a:avLst/>
          </a:prstGeom>
          <a:solidFill>
            <a:srgbClr val="0C1A2E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54864" cy="822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</a:rPr>
              <a:t>DOMAIN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RegDelta (Diff→Analyze→Report)  |  SynapseIQ (4-Agent Pipeline)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11430000" cy="822960"/>
          </a:xfrm>
          <a:prstGeom prst="rect">
            <a:avLst/>
          </a:prstGeom>
          <a:solidFill>
            <a:srgbClr val="1A1229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54864" cy="82296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142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A8FF"/>
                </a:solidFill>
              </a:rPr>
              <a:t>SHARED 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61687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ChromaDB · Embedding Engine · LLM Client · Config ·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8005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1430000" cy="822960"/>
          </a:xfrm>
          <a:prstGeom prst="rect">
            <a:avLst/>
          </a:prstGeom>
          <a:solidFill>
            <a:srgbClr val="091409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54864" cy="8229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286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636"/>
                </a:solidFill>
              </a:rPr>
              <a:t>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76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SQLite (RegDelta + SynapseIQ) · ChromaDB on-disk · OpenAI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LLM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Where and how LLMs are used in both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960120"/>
          </a:xfrm>
          <a:prstGeom prst="rect">
            <a:avLst/>
          </a:prstGeom>
          <a:solidFill>
            <a:srgbClr val="0C2A4A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9601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893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</a:rPr>
              <a:t>ResearcherAgent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73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Extract structured findings from retrieved chunks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508760"/>
            <a:ext cx="15544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8BFD"/>
                </a:solidFill>
              </a:rPr>
              <a:t>1,200 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1430000" cy="960120"/>
          </a:xfrm>
          <a:prstGeom prst="rect">
            <a:avLst/>
          </a:prstGeom>
          <a:solidFill>
            <a:srgbClr val="2D1900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54864" cy="9601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780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</a:rPr>
              <a:t>CriticAgent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620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Identify logical gaps, bias, unsupported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697480"/>
            <a:ext cx="15544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883E"/>
                </a:solidFill>
              </a:rPr>
              <a:t>800 tok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11430000" cy="960120"/>
          </a:xfrm>
          <a:prstGeom prst="rect">
            <a:avLst/>
          </a:prstGeom>
          <a:solidFill>
            <a:srgbClr val="091409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54864" cy="9601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13048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6667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SynthesizerAgent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507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Produce knowledge artifact (brief/standard/detailed)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886200"/>
            <a:ext cx="15544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886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1,800 tok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1430000" cy="960120"/>
          </a:xfrm>
          <a:prstGeom prst="rect">
            <a:avLst/>
          </a:prstGeom>
          <a:solidFill>
            <a:srgbClr val="1F1040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800600"/>
            <a:ext cx="54864" cy="9601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01768"/>
            <a:ext cx="502920" cy="5029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001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</a:rP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8554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ValidatorAgent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2395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Score 4 dimensions; issue PASS/CONDITIONAL/FAIL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5074920"/>
            <a:ext cx="15544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2A8FF"/>
                </a:solidFill>
              </a:rPr>
              <a:t>600 tok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081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★  All LLM calls grounded in ChromaDB-retrieved context — no parametric hallucination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Platform capabilities across both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1C212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3840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RegDelta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Section-level ADDED / MODIFIED / REMOVED classification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Dual-corpus ChromaDB (regulations + policies isolated)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LLM significance annotation per changed section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Risk classification: LOW / MEDIUM / HIGH / CRITICAL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SHA-256 idempotent document ingestion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88BFD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Full SQLite audit trail — every version and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1C2128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384048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070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SynapseIQ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6420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4-agent shared AgentContext state graph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Versioned YAML + Jinja2 prompts with hot-reload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Format-adaptive: brief / standard / detailed output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Composite eval: Σ(score × weight) before delivery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Per-agent token budget enforcement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FB950"/>
                </a:solidFill>
              </a:rPr>
              <a:t>▸  </a:t>
            </a:r>
            <a:r>
              <a:rPr sz="1400">
                <a:solidFill>
                  <a:srgbClr val="E6EDF3"/>
                </a:solidFill>
              </a:rPr>
              <a:t>Per-session USD cost estimation + CostReport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End-to-end walkthrough of both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</a:rPr>
              <a:t>RegDelta — 4 API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11480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50749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465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/ingest/regulation → SEC 17a-4 v2023 (old)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411480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77440"/>
            <a:ext cx="50749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323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/ingest/regulation → SEC 17a-4 v2024 (new)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411480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63240"/>
            <a:ext cx="50749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181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/ingest/policy → AML/KYC internal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411480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749039"/>
            <a:ext cx="50749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03903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/analyze/delta → ImpactReport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SynapseIQ — 3 API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91640"/>
            <a:ext cx="411480" cy="8229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691640"/>
            <a:ext cx="411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1691640"/>
            <a:ext cx="5074920" cy="822960"/>
          </a:xfrm>
          <a:prstGeom prst="rect">
            <a:avLst/>
          </a:prstGeom>
          <a:solidFill>
            <a:srgbClr val="1C2128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76479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/ingest → transformers_overview.txt, llm_finetuning.txt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651760"/>
            <a:ext cx="411480" cy="8229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411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2651760"/>
            <a:ext cx="5074920" cy="822960"/>
          </a:xfrm>
          <a:prstGeom prst="rect">
            <a:avLst/>
          </a:prstGeom>
          <a:solidFill>
            <a:srgbClr val="1C2128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72491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 /synthesize → query: 'Compare LoRA vs full fine-tuning', format: standard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11880"/>
            <a:ext cx="411480" cy="8229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611880"/>
            <a:ext cx="411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611880"/>
            <a:ext cx="5074920" cy="822960"/>
          </a:xfrm>
          <a:prstGeom prst="rect">
            <a:avLst/>
          </a:prstGeom>
          <a:solidFill>
            <a:srgbClr val="1C2128"/>
          </a:solidFill>
          <a:ln w="127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68503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Response → synthesis doc + 4-dim scorecard + PASS verdict + agent traces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52160"/>
            <a:ext cx="11430000" cy="411480"/>
          </a:xfrm>
          <a:prstGeom prst="rect">
            <a:avLst/>
          </a:prstGeom>
          <a:solidFill>
            <a:srgbClr val="0C2A4A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8BFD"/>
                </a:solidFill>
              </a:rPr>
              <a:t>Live Demo Output: https://htmlpreview.github.io/?https://github.com/dp2426-NAU/LLM-Project/blob/main/docs/demo_output.html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Results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Performance benchmarks and quality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43200" cy="1463040"/>
          </a:xfrm>
          <a:prstGeom prst="rect">
            <a:avLst/>
          </a:prstGeom>
          <a:solidFill>
            <a:srgbClr val="1C2128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Coherence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88BFD"/>
                </a:solidFill>
              </a:rPr>
              <a:t>0.84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weight 0.30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234440"/>
            <a:ext cx="2743200" cy="146304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FB950"/>
                </a:solidFill>
              </a:rPr>
              <a:t>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weight 0.35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234440"/>
            <a:ext cx="2743200" cy="1463040"/>
          </a:xfrm>
          <a:prstGeom prst="rect">
            <a:avLst/>
          </a:prstGeom>
          <a:solidFill>
            <a:srgbClr val="1C2128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Factuality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883E"/>
                </a:solidFill>
              </a:rPr>
              <a:t>0.78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weight 0.25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234440"/>
            <a:ext cx="2743200" cy="1463040"/>
          </a:xfrm>
          <a:prstGeom prst="rect">
            <a:avLst/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2A8FF"/>
                </a:solidFill>
              </a:rPr>
              <a:t>0.82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weight 0.10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5394960" cy="502920"/>
          </a:xfrm>
          <a:prstGeom prst="rect">
            <a:avLst/>
          </a:prstGeom>
          <a:solidFill>
            <a:srgbClr val="0A1F0F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620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FB950"/>
                </a:solidFill>
              </a:rPr>
              <a:t>Composite Score: 0.848  →  PASS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4930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Performance Benchmarks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13632"/>
            <a:ext cx="3749039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50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Metric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9664" y="3913632"/>
            <a:ext cx="3749039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3950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RegDelta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3913632"/>
            <a:ext cx="3749039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3950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SynapseIQ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06824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End-to-end 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9664" y="4306824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4343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4–8 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73568" y="4306824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4343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6–12 seconds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00016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36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Token consumption/query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9664" y="4700016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4736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~2,000–3,500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3568" y="4700016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8" y="4736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~3,000–4,200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93208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1297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Est. cost/query (gpt-4o-mini)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9664" y="5093208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51297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~$0.003–0.005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73568" y="5093208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65008" y="51297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~$0.004–0.007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86400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5229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Vector retrieval latency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9664" y="5486400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55229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&lt; 100ms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5486400"/>
            <a:ext cx="3749039" cy="36576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55229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&lt; 100ms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879592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916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Ollama local inference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9664" y="5879592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4" y="5916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$0.00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5879592"/>
            <a:ext cx="3749039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65008" y="5916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$0.00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Roadmap and open research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16002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93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D"/>
                </a:solidFill>
              </a:rPr>
              <a:t>Short-Term (v1.1)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88BFD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Streaming responses via WebSocket — real-time agent progress visualization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88BFD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Streamlit dashboard UI for non-technical compliance users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88BFD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Parallel agent execution: Researcher + Critic concurrently (~30% latency reduction)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88BFD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Hardened PDF parsing for multi-column and table-heavy regulatory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1143000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54864" cy="1600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266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Medium-Term (v2.0)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FB950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Multi-tenant corpus isolation with authentication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FB950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Automated regulation monitoring: SEC EDGAR / Federal Register API polling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FB950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Agent persistent memory across sessions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FB950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Fine-tuned domain embeddings on regulatory and legal corpora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11430000" cy="1600200"/>
          </a:xfrm>
          <a:prstGeom prst="rect">
            <a:avLst/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54864" cy="1600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</a:rPr>
              <a:t>Research Directions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2A8FF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LLM-as-judge calibration vs. human expert ratings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2A8FF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Graph-based retrieval over relational regulatory concept networks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2A8FF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Cross-lingual support: EU regulatory documents (GDPR, MiFID II)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2A8FF"/>
                </a:solidFill>
              </a:rPr>
              <a:t>▸  </a:t>
            </a:r>
            <a:r>
              <a:rPr sz="1300">
                <a:solidFill>
                  <a:srgbClr val="E6EDF3"/>
                </a:solidFill>
              </a:rPr>
              <a:t>Optimal agent decomposition for domain-specific synthesis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91440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D"/>
                </a:solidFill>
              </a:rPr>
              <a:t>What was built: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RegDelta: Regulatory change impact analysis — section diff + dual-corpus RAG + LLM risk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SynapseIQ: Multi-agent knowledge synthesis — Researcher→Critic→Synthesizer→Validator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What was demonstrated: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950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LLMs excel as domain reasoners when grounded in retrieved context — no 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5526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Multi-agent critique + self-evaluation improves quality over single-shot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2102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Production LLM systems require: token budgets, cost tracking, observable pipelines, graceful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782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</a:rPr>
              <a:t>Key technical contributions: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2569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Section-level regulatory diff engine with semantic LLM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9145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4-agent sequential pipeline with shared state and quality-gated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5721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6EDF3"/>
                </a:solidFill>
              </a:rPr>
              <a:t>▸  YAML+Jinja2 hot-reloadable prompt management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943600"/>
            <a:ext cx="11064240" cy="640080"/>
          </a:xfrm>
          <a:prstGeom prst="rect">
            <a:avLst/>
          </a:prstGeom>
          <a:solidFill>
            <a:srgbClr val="0C2A4A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8BFD"/>
                </a:solidFill>
              </a:rPr>
              <a:t>github.com/dp2426-NAU/LLM-Project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DocuMind  ·  CS 599  ·  Northern Arizona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